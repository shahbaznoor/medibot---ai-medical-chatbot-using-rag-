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0" r:id="rId10"/>
    <p:sldId id="261" r:id="rId1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2" d="100"/>
          <a:sy n="102" d="100"/>
        </p:scale>
        <p:origin x="4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rgbClr val="0145A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145A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0145A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145A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0145A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0145A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3810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0145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9049" y="588488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82C7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70525" y="448995"/>
            <a:ext cx="6744334" cy="55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rgbClr val="0145A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76421" y="1202746"/>
            <a:ext cx="6615430" cy="2969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145A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00300" y="504"/>
            <a:ext cx="1644014" cy="1644014"/>
          </a:xfrm>
          <a:custGeom>
            <a:avLst/>
            <a:gdLst/>
            <a:ahLst/>
            <a:cxnLst/>
            <a:rect l="l" t="t" r="r" b="b"/>
            <a:pathLst>
              <a:path w="1644015" h="1644014">
                <a:moveTo>
                  <a:pt x="1643699" y="1643700"/>
                </a:moveTo>
                <a:lnTo>
                  <a:pt x="0" y="0"/>
                </a:lnTo>
                <a:lnTo>
                  <a:pt x="1643699" y="0"/>
                </a:lnTo>
                <a:lnTo>
                  <a:pt x="1643699" y="1643700"/>
                </a:lnTo>
                <a:close/>
              </a:path>
            </a:pathLst>
          </a:custGeom>
          <a:solidFill>
            <a:srgbClr val="FFFFFF">
              <a:alpha val="302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490"/>
            <a:ext cx="5154295" cy="5134610"/>
            <a:chOff x="0" y="490"/>
            <a:chExt cx="5154295" cy="5134610"/>
          </a:xfrm>
        </p:grpSpPr>
        <p:sp>
          <p:nvSpPr>
            <p:cNvPr id="4" name="object 4"/>
            <p:cNvSpPr/>
            <p:nvPr/>
          </p:nvSpPr>
          <p:spPr>
            <a:xfrm>
              <a:off x="0" y="647"/>
              <a:ext cx="5154295" cy="5134610"/>
            </a:xfrm>
            <a:custGeom>
              <a:avLst/>
              <a:gdLst/>
              <a:ahLst/>
              <a:cxnLst/>
              <a:rect l="l" t="t" r="r" b="b"/>
              <a:pathLst>
                <a:path w="5154295" h="5134610">
                  <a:moveTo>
                    <a:pt x="5153698" y="5134254"/>
                  </a:moveTo>
                  <a:lnTo>
                    <a:pt x="0" y="0"/>
                  </a:lnTo>
                  <a:lnTo>
                    <a:pt x="0" y="1141628"/>
                  </a:lnTo>
                  <a:lnTo>
                    <a:pt x="0" y="2567127"/>
                  </a:lnTo>
                  <a:lnTo>
                    <a:pt x="0" y="2783332"/>
                  </a:lnTo>
                  <a:lnTo>
                    <a:pt x="2349131" y="5123840"/>
                  </a:lnTo>
                  <a:lnTo>
                    <a:pt x="2566378" y="5123840"/>
                  </a:lnTo>
                  <a:lnTo>
                    <a:pt x="2576842" y="5134254"/>
                  </a:lnTo>
                  <a:lnTo>
                    <a:pt x="5153698" y="5134254"/>
                  </a:lnTo>
                  <a:close/>
                </a:path>
              </a:pathLst>
            </a:custGeom>
            <a:solidFill>
              <a:srgbClr val="FFFFFF">
                <a:alpha val="302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96" y="490"/>
              <a:ext cx="2300605" cy="2291715"/>
            </a:xfrm>
            <a:custGeom>
              <a:avLst/>
              <a:gdLst/>
              <a:ahLst/>
              <a:cxnLst/>
              <a:rect l="l" t="t" r="r" b="b"/>
              <a:pathLst>
                <a:path w="2300605" h="2291715">
                  <a:moveTo>
                    <a:pt x="2300099" y="2291520"/>
                  </a:moveTo>
                  <a:lnTo>
                    <a:pt x="1150049" y="2291520"/>
                  </a:lnTo>
                  <a:lnTo>
                    <a:pt x="0" y="1145760"/>
                  </a:lnTo>
                  <a:lnTo>
                    <a:pt x="0" y="0"/>
                  </a:lnTo>
                  <a:lnTo>
                    <a:pt x="2300099" y="2291520"/>
                  </a:lnTo>
                  <a:close/>
                </a:path>
              </a:pathLst>
            </a:custGeom>
            <a:solidFill>
              <a:srgbClr val="0145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2821" y="588326"/>
              <a:ext cx="2300605" cy="2291715"/>
            </a:xfrm>
            <a:custGeom>
              <a:avLst/>
              <a:gdLst/>
              <a:ahLst/>
              <a:cxnLst/>
              <a:rect l="l" t="t" r="r" b="b"/>
              <a:pathLst>
                <a:path w="2300605" h="2291715">
                  <a:moveTo>
                    <a:pt x="2300099" y="2291520"/>
                  </a:moveTo>
                  <a:lnTo>
                    <a:pt x="0" y="0"/>
                  </a:lnTo>
                  <a:lnTo>
                    <a:pt x="1150049" y="0"/>
                  </a:lnTo>
                  <a:lnTo>
                    <a:pt x="2300099" y="1145760"/>
                  </a:lnTo>
                  <a:lnTo>
                    <a:pt x="2300099" y="2291520"/>
                  </a:lnTo>
                  <a:close/>
                </a:path>
              </a:pathLst>
            </a:custGeom>
            <a:solidFill>
              <a:srgbClr val="82C7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10175" y="1631105"/>
            <a:ext cx="510286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spc="-80" dirty="0"/>
              <a:t>AI</a:t>
            </a:r>
            <a:r>
              <a:rPr sz="4000" spc="-120" dirty="0"/>
              <a:t> </a:t>
            </a:r>
            <a:r>
              <a:rPr sz="4000" spc="130" dirty="0"/>
              <a:t>Medical</a:t>
            </a:r>
            <a:r>
              <a:rPr sz="4000" spc="-114" dirty="0"/>
              <a:t> </a:t>
            </a:r>
            <a:r>
              <a:rPr sz="4000" spc="125" dirty="0"/>
              <a:t>Chatbot </a:t>
            </a:r>
            <a:r>
              <a:rPr sz="4000" spc="140" dirty="0"/>
              <a:t>using</a:t>
            </a:r>
            <a:r>
              <a:rPr sz="4000" spc="-35" dirty="0"/>
              <a:t> </a:t>
            </a:r>
            <a:r>
              <a:rPr sz="4000" spc="100" dirty="0"/>
              <a:t>RAG </a:t>
            </a:r>
            <a:r>
              <a:rPr sz="4000" spc="-10" dirty="0"/>
              <a:t>(MediBot)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95" dirty="0"/>
              <a:t>PROJECT</a:t>
            </a:r>
            <a:r>
              <a:rPr sz="2600" spc="-30" dirty="0"/>
              <a:t> </a:t>
            </a:r>
            <a:r>
              <a:rPr sz="2600" spc="50" dirty="0"/>
              <a:t>LAYOUT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1370525" y="1062133"/>
            <a:ext cx="4325620" cy="3636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u="heavy" spc="-110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Phase</a:t>
            </a:r>
            <a:r>
              <a:rPr sz="1500" b="1" u="heavy" spc="-130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 </a:t>
            </a:r>
            <a:r>
              <a:rPr sz="1500" b="1" u="heavy" spc="-110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1–Setup</a:t>
            </a:r>
            <a:r>
              <a:rPr sz="1500" b="1" u="heavy" spc="-125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 </a:t>
            </a:r>
            <a:r>
              <a:rPr sz="1500" b="1" u="heavy" spc="-75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Memory</a:t>
            </a:r>
            <a:r>
              <a:rPr sz="1500" b="1" u="heavy" spc="-125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 </a:t>
            </a:r>
            <a:r>
              <a:rPr sz="1500" b="1" u="heavy" spc="-65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for</a:t>
            </a:r>
            <a:r>
              <a:rPr sz="1500" b="1" u="heavy" spc="-125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 </a:t>
            </a:r>
            <a:r>
              <a:rPr sz="1500" b="1" u="heavy" spc="-45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LLM</a:t>
            </a:r>
            <a:r>
              <a:rPr sz="1500" b="1" u="heavy" spc="-120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 </a:t>
            </a:r>
            <a:r>
              <a:rPr sz="1500" b="1" u="heavy" spc="-90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(Vector</a:t>
            </a:r>
            <a:r>
              <a:rPr sz="1500" b="1" u="heavy" spc="-125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 </a:t>
            </a:r>
            <a:r>
              <a:rPr sz="1500" b="1" u="heavy" spc="-80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Database)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ts val="1755"/>
              </a:lnSpc>
              <a:spcBef>
                <a:spcPts val="1115"/>
              </a:spcBef>
              <a:buChar char="●"/>
              <a:tabLst>
                <a:tab pos="469265" algn="l"/>
              </a:tabLst>
            </a:pPr>
            <a:r>
              <a:rPr sz="1500" spc="-10" dirty="0">
                <a:solidFill>
                  <a:srgbClr val="0145AB"/>
                </a:solidFill>
                <a:latin typeface="Tahoma"/>
                <a:cs typeface="Tahoma"/>
              </a:rPr>
              <a:t>Load</a:t>
            </a:r>
            <a:r>
              <a:rPr sz="1500" spc="-16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145AB"/>
                </a:solidFill>
                <a:latin typeface="Tahoma"/>
                <a:cs typeface="Tahoma"/>
              </a:rPr>
              <a:t>raw</a:t>
            </a:r>
            <a:r>
              <a:rPr sz="1500" spc="-15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0145AB"/>
                </a:solidFill>
                <a:latin typeface="Tahoma"/>
                <a:cs typeface="Tahoma"/>
              </a:rPr>
              <a:t>PDF(s)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ts val="1714"/>
              </a:lnSpc>
              <a:buChar char="●"/>
              <a:tabLst>
                <a:tab pos="469265" algn="l"/>
              </a:tabLst>
            </a:pPr>
            <a:r>
              <a:rPr sz="1500" dirty="0">
                <a:solidFill>
                  <a:srgbClr val="0145AB"/>
                </a:solidFill>
                <a:latin typeface="Tahoma"/>
                <a:cs typeface="Tahoma"/>
              </a:rPr>
              <a:t>Create</a:t>
            </a:r>
            <a:r>
              <a:rPr sz="1500" spc="3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0145AB"/>
                </a:solidFill>
                <a:latin typeface="Tahoma"/>
                <a:cs typeface="Tahoma"/>
              </a:rPr>
              <a:t>Chunks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ts val="1714"/>
              </a:lnSpc>
              <a:buChar char="●"/>
              <a:tabLst>
                <a:tab pos="469265" algn="l"/>
              </a:tabLst>
            </a:pPr>
            <a:r>
              <a:rPr sz="1500" dirty="0">
                <a:solidFill>
                  <a:srgbClr val="0145AB"/>
                </a:solidFill>
                <a:latin typeface="Tahoma"/>
                <a:cs typeface="Tahoma"/>
              </a:rPr>
              <a:t>Create</a:t>
            </a:r>
            <a:r>
              <a:rPr sz="1500" spc="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145AB"/>
                </a:solidFill>
                <a:latin typeface="Tahoma"/>
                <a:cs typeface="Tahoma"/>
              </a:rPr>
              <a:t>Vector</a:t>
            </a:r>
            <a:r>
              <a:rPr sz="1500" spc="1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0145AB"/>
                </a:solidFill>
                <a:latin typeface="Tahoma"/>
                <a:cs typeface="Tahoma"/>
              </a:rPr>
              <a:t>Embeddings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ts val="1755"/>
              </a:lnSpc>
              <a:buChar char="●"/>
              <a:tabLst>
                <a:tab pos="469265" algn="l"/>
              </a:tabLst>
            </a:pPr>
            <a:r>
              <a:rPr sz="1500" dirty="0">
                <a:solidFill>
                  <a:srgbClr val="0145AB"/>
                </a:solidFill>
                <a:latin typeface="Tahoma"/>
                <a:cs typeface="Tahoma"/>
              </a:rPr>
              <a:t>Store</a:t>
            </a:r>
            <a:r>
              <a:rPr sz="1500" spc="-13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0145AB"/>
                </a:solidFill>
                <a:latin typeface="Tahoma"/>
                <a:cs typeface="Tahoma"/>
              </a:rPr>
              <a:t>embeddings</a:t>
            </a:r>
            <a:r>
              <a:rPr sz="1500" spc="-12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145AB"/>
                </a:solidFill>
                <a:latin typeface="Tahoma"/>
                <a:cs typeface="Tahoma"/>
              </a:rPr>
              <a:t>in</a:t>
            </a:r>
            <a:r>
              <a:rPr sz="1500" spc="-13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0145AB"/>
                </a:solidFill>
                <a:latin typeface="Tahoma"/>
                <a:cs typeface="Tahoma"/>
              </a:rPr>
              <a:t>FAISS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500" b="1" u="heavy" spc="-110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Phase</a:t>
            </a:r>
            <a:r>
              <a:rPr sz="1500" b="1" u="heavy" spc="-114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 </a:t>
            </a:r>
            <a:r>
              <a:rPr sz="1500" b="1" u="heavy" spc="-85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2–Connect</a:t>
            </a:r>
            <a:r>
              <a:rPr sz="1500" b="1" u="heavy" spc="-110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 </a:t>
            </a:r>
            <a:r>
              <a:rPr sz="1500" b="1" u="heavy" spc="-75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Memory</a:t>
            </a:r>
            <a:r>
              <a:rPr sz="1500" b="1" u="heavy" spc="-114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 </a:t>
            </a:r>
            <a:r>
              <a:rPr sz="1500" b="1" u="heavy" spc="-100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with</a:t>
            </a:r>
            <a:r>
              <a:rPr sz="1500" b="1" u="heavy" spc="-110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 </a:t>
            </a:r>
            <a:r>
              <a:rPr sz="1500" b="1" u="heavy" spc="-25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LLM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ts val="1755"/>
              </a:lnSpc>
              <a:spcBef>
                <a:spcPts val="1115"/>
              </a:spcBef>
              <a:buChar char="●"/>
              <a:tabLst>
                <a:tab pos="469265" algn="l"/>
              </a:tabLst>
            </a:pPr>
            <a:r>
              <a:rPr sz="1500" dirty="0">
                <a:solidFill>
                  <a:srgbClr val="0145AB"/>
                </a:solidFill>
                <a:latin typeface="Tahoma"/>
                <a:cs typeface="Tahoma"/>
              </a:rPr>
              <a:t>Setup</a:t>
            </a:r>
            <a:r>
              <a:rPr sz="1500" spc="-9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0145AB"/>
                </a:solidFill>
                <a:latin typeface="Tahoma"/>
                <a:cs typeface="Tahoma"/>
              </a:rPr>
              <a:t>LLM</a:t>
            </a:r>
            <a:r>
              <a:rPr sz="1500" spc="-9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145AB"/>
                </a:solidFill>
                <a:latin typeface="Tahoma"/>
                <a:cs typeface="Tahoma"/>
              </a:rPr>
              <a:t>(Mistral</a:t>
            </a:r>
            <a:r>
              <a:rPr sz="1500" spc="-9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145AB"/>
                </a:solidFill>
                <a:latin typeface="Tahoma"/>
                <a:cs typeface="Tahoma"/>
              </a:rPr>
              <a:t>with</a:t>
            </a:r>
            <a:r>
              <a:rPr sz="1500" spc="-9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0145AB"/>
                </a:solidFill>
                <a:latin typeface="Tahoma"/>
                <a:cs typeface="Tahoma"/>
              </a:rPr>
              <a:t>HuggingFace)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ts val="1714"/>
              </a:lnSpc>
              <a:buChar char="●"/>
              <a:tabLst>
                <a:tab pos="469265" algn="l"/>
              </a:tabLst>
            </a:pPr>
            <a:r>
              <a:rPr sz="1500" dirty="0">
                <a:solidFill>
                  <a:srgbClr val="0145AB"/>
                </a:solidFill>
                <a:latin typeface="Tahoma"/>
                <a:cs typeface="Tahoma"/>
              </a:rPr>
              <a:t>Connect</a:t>
            </a:r>
            <a:r>
              <a:rPr sz="1500" spc="-6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0145AB"/>
                </a:solidFill>
                <a:latin typeface="Tahoma"/>
                <a:cs typeface="Tahoma"/>
              </a:rPr>
              <a:t>LLM</a:t>
            </a:r>
            <a:r>
              <a:rPr sz="1500" spc="-6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145AB"/>
                </a:solidFill>
                <a:latin typeface="Tahoma"/>
                <a:cs typeface="Tahoma"/>
              </a:rPr>
              <a:t>with</a:t>
            </a:r>
            <a:r>
              <a:rPr sz="1500" spc="-6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0145AB"/>
                </a:solidFill>
                <a:latin typeface="Tahoma"/>
                <a:cs typeface="Tahoma"/>
              </a:rPr>
              <a:t>FAISS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ts val="1755"/>
              </a:lnSpc>
              <a:buChar char="●"/>
              <a:tabLst>
                <a:tab pos="469265" algn="l"/>
              </a:tabLst>
            </a:pPr>
            <a:r>
              <a:rPr sz="1500" dirty="0">
                <a:solidFill>
                  <a:srgbClr val="0145AB"/>
                </a:solidFill>
                <a:latin typeface="Tahoma"/>
                <a:cs typeface="Tahoma"/>
              </a:rPr>
              <a:t>Create</a:t>
            </a:r>
            <a:r>
              <a:rPr sz="1500" spc="3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0145AB"/>
                </a:solidFill>
                <a:latin typeface="Tahoma"/>
                <a:cs typeface="Tahoma"/>
              </a:rPr>
              <a:t>chain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500" b="1" u="heavy" spc="-110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Phase</a:t>
            </a:r>
            <a:r>
              <a:rPr sz="1500" b="1" u="heavy" spc="-125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 </a:t>
            </a:r>
            <a:r>
              <a:rPr sz="1500" b="1" u="heavy" spc="-110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3–Setup</a:t>
            </a:r>
            <a:r>
              <a:rPr sz="1500" b="1" u="heavy" spc="-125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 </a:t>
            </a:r>
            <a:r>
              <a:rPr sz="1500" b="1" u="heavy" spc="-145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UI</a:t>
            </a:r>
            <a:r>
              <a:rPr sz="1500" b="1" u="heavy" spc="-114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 </a:t>
            </a:r>
            <a:r>
              <a:rPr sz="1500" b="1" u="heavy" spc="-65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for</a:t>
            </a:r>
            <a:r>
              <a:rPr sz="1500" b="1" u="heavy" spc="-125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 </a:t>
            </a:r>
            <a:r>
              <a:rPr sz="1500" b="1" u="heavy" spc="-95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the</a:t>
            </a:r>
            <a:r>
              <a:rPr sz="1500" b="1" u="heavy" spc="-125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 </a:t>
            </a:r>
            <a:r>
              <a:rPr sz="1500" b="1" u="heavy" spc="-10" dirty="0">
                <a:solidFill>
                  <a:srgbClr val="0145AB"/>
                </a:solidFill>
                <a:uFill>
                  <a:solidFill>
                    <a:srgbClr val="0145AB"/>
                  </a:solidFill>
                </a:uFill>
                <a:latin typeface="Tahoma"/>
                <a:cs typeface="Tahoma"/>
              </a:rPr>
              <a:t>Chatbot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ts val="1755"/>
              </a:lnSpc>
              <a:spcBef>
                <a:spcPts val="1115"/>
              </a:spcBef>
              <a:buChar char="●"/>
              <a:tabLst>
                <a:tab pos="469265" algn="l"/>
              </a:tabLst>
            </a:pPr>
            <a:r>
              <a:rPr sz="1500" dirty="0">
                <a:solidFill>
                  <a:srgbClr val="0145AB"/>
                </a:solidFill>
                <a:latin typeface="Tahoma"/>
                <a:cs typeface="Tahoma"/>
              </a:rPr>
              <a:t>Chatbot</a:t>
            </a:r>
            <a:r>
              <a:rPr sz="1500" spc="1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145AB"/>
                </a:solidFill>
                <a:latin typeface="Tahoma"/>
                <a:cs typeface="Tahoma"/>
              </a:rPr>
              <a:t>with</a:t>
            </a:r>
            <a:r>
              <a:rPr sz="1500" spc="2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0145AB"/>
                </a:solidFill>
                <a:latin typeface="Tahoma"/>
                <a:cs typeface="Tahoma"/>
              </a:rPr>
              <a:t>Streamlit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ts val="1750"/>
              </a:lnSpc>
              <a:buChar char="●"/>
              <a:tabLst>
                <a:tab pos="469265" algn="l"/>
              </a:tabLst>
            </a:pPr>
            <a:r>
              <a:rPr sz="1500" spc="-10" dirty="0">
                <a:solidFill>
                  <a:srgbClr val="0145AB"/>
                </a:solidFill>
                <a:latin typeface="Tahoma"/>
                <a:cs typeface="Tahoma"/>
              </a:rPr>
              <a:t>Load</a:t>
            </a:r>
            <a:r>
              <a:rPr sz="1500" spc="-10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145AB"/>
                </a:solidFill>
                <a:latin typeface="Tahoma"/>
                <a:cs typeface="Tahoma"/>
              </a:rPr>
              <a:t>Vector</a:t>
            </a:r>
            <a:r>
              <a:rPr sz="1500" spc="-10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145AB"/>
                </a:solidFill>
                <a:latin typeface="Tahoma"/>
                <a:cs typeface="Tahoma"/>
              </a:rPr>
              <a:t>store</a:t>
            </a:r>
            <a:r>
              <a:rPr sz="1500" spc="-10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spc="-65" dirty="0">
                <a:solidFill>
                  <a:srgbClr val="0145AB"/>
                </a:solidFill>
                <a:latin typeface="Tahoma"/>
                <a:cs typeface="Tahoma"/>
              </a:rPr>
              <a:t>(FAISS)</a:t>
            </a:r>
            <a:r>
              <a:rPr sz="1500" spc="-10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145AB"/>
                </a:solidFill>
                <a:latin typeface="Tahoma"/>
                <a:cs typeface="Tahoma"/>
              </a:rPr>
              <a:t>in</a:t>
            </a:r>
            <a:r>
              <a:rPr sz="1500" spc="-10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0145AB"/>
                </a:solidFill>
                <a:latin typeface="Tahoma"/>
                <a:cs typeface="Tahoma"/>
              </a:rPr>
              <a:t>cache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ts val="1789"/>
              </a:lnSpc>
              <a:buChar char="●"/>
              <a:tabLst>
                <a:tab pos="469265" algn="l"/>
              </a:tabLst>
            </a:pPr>
            <a:r>
              <a:rPr sz="1500" dirty="0">
                <a:solidFill>
                  <a:srgbClr val="0145AB"/>
                </a:solidFill>
                <a:latin typeface="Tahoma"/>
                <a:cs typeface="Tahoma"/>
              </a:rPr>
              <a:t>Retrieval</a:t>
            </a:r>
            <a:r>
              <a:rPr sz="1500" spc="-4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145AB"/>
                </a:solidFill>
                <a:latin typeface="Tahoma"/>
                <a:cs typeface="Tahoma"/>
              </a:rPr>
              <a:t>Augmented</a:t>
            </a:r>
            <a:r>
              <a:rPr sz="1500" spc="-3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0145AB"/>
                </a:solidFill>
                <a:latin typeface="Tahoma"/>
                <a:cs typeface="Tahoma"/>
              </a:rPr>
              <a:t>Generation–RAG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dirty="0"/>
              <a:t>Tools</a:t>
            </a:r>
            <a:r>
              <a:rPr sz="3500" spc="-80" dirty="0"/>
              <a:t> </a:t>
            </a:r>
            <a:r>
              <a:rPr sz="3500" dirty="0"/>
              <a:t>&amp;</a:t>
            </a:r>
            <a:r>
              <a:rPr sz="3500" spc="-75" dirty="0"/>
              <a:t> </a:t>
            </a:r>
            <a:r>
              <a:rPr sz="3500" spc="80" dirty="0"/>
              <a:t>Technologies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1445767" y="1392170"/>
            <a:ext cx="5619750" cy="24790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94335" indent="-381635">
              <a:lnSpc>
                <a:spcPct val="100000"/>
              </a:lnSpc>
              <a:spcBef>
                <a:spcPts val="459"/>
              </a:spcBef>
              <a:buChar char="●"/>
              <a:tabLst>
                <a:tab pos="394335" algn="l"/>
              </a:tabLst>
            </a:pPr>
            <a:r>
              <a:rPr sz="2000" spc="-10" dirty="0">
                <a:solidFill>
                  <a:srgbClr val="0145AB"/>
                </a:solidFill>
                <a:latin typeface="Tahoma"/>
                <a:cs typeface="Tahoma"/>
              </a:rPr>
              <a:t>Langchain</a:t>
            </a:r>
            <a:r>
              <a:rPr sz="2000" spc="-18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0145AB"/>
                </a:solidFill>
                <a:latin typeface="Tahoma"/>
                <a:cs typeface="Tahoma"/>
              </a:rPr>
              <a:t>(AI</a:t>
            </a:r>
            <a:r>
              <a:rPr sz="2000" spc="-18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145AB"/>
                </a:solidFill>
                <a:latin typeface="Tahoma"/>
                <a:cs typeface="Tahoma"/>
              </a:rPr>
              <a:t>Framework</a:t>
            </a:r>
            <a:r>
              <a:rPr sz="2000" spc="-18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145AB"/>
                </a:solidFill>
                <a:latin typeface="Tahoma"/>
                <a:cs typeface="Tahoma"/>
              </a:rPr>
              <a:t>for</a:t>
            </a:r>
            <a:r>
              <a:rPr sz="2000" spc="-18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000" spc="114" dirty="0">
                <a:solidFill>
                  <a:srgbClr val="0145AB"/>
                </a:solidFill>
                <a:latin typeface="Tahoma"/>
                <a:cs typeface="Tahoma"/>
              </a:rPr>
              <a:t>LLM</a:t>
            </a:r>
            <a:r>
              <a:rPr sz="2000" spc="-18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145AB"/>
                </a:solidFill>
                <a:latin typeface="Tahoma"/>
                <a:cs typeface="Tahoma"/>
              </a:rPr>
              <a:t>applications)</a:t>
            </a:r>
            <a:endParaRPr sz="2000">
              <a:latin typeface="Tahoma"/>
              <a:cs typeface="Tahoma"/>
            </a:endParaRPr>
          </a:p>
          <a:p>
            <a:pPr marL="394335" indent="-381635">
              <a:lnSpc>
                <a:spcPct val="100000"/>
              </a:lnSpc>
              <a:spcBef>
                <a:spcPts val="359"/>
              </a:spcBef>
              <a:buChar char="●"/>
              <a:tabLst>
                <a:tab pos="394335" algn="l"/>
              </a:tabLst>
            </a:pPr>
            <a:r>
              <a:rPr sz="2000" dirty="0">
                <a:solidFill>
                  <a:srgbClr val="0145AB"/>
                </a:solidFill>
                <a:latin typeface="Tahoma"/>
                <a:cs typeface="Tahoma"/>
              </a:rPr>
              <a:t>HuggingFace</a:t>
            </a:r>
            <a:r>
              <a:rPr sz="2000" spc="-23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145AB"/>
                </a:solidFill>
                <a:latin typeface="Tahoma"/>
                <a:cs typeface="Tahoma"/>
              </a:rPr>
              <a:t>(ML/AI</a:t>
            </a:r>
            <a:r>
              <a:rPr sz="2000" spc="-229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0145AB"/>
                </a:solidFill>
                <a:latin typeface="Tahoma"/>
                <a:cs typeface="Tahoma"/>
              </a:rPr>
              <a:t>Hub)</a:t>
            </a:r>
            <a:endParaRPr sz="2000">
              <a:latin typeface="Tahoma"/>
              <a:cs typeface="Tahoma"/>
            </a:endParaRPr>
          </a:p>
          <a:p>
            <a:pPr marL="394335" indent="-381635">
              <a:lnSpc>
                <a:spcPct val="100000"/>
              </a:lnSpc>
              <a:spcBef>
                <a:spcPts val="359"/>
              </a:spcBef>
              <a:buChar char="●"/>
              <a:tabLst>
                <a:tab pos="394335" algn="l"/>
              </a:tabLst>
            </a:pPr>
            <a:r>
              <a:rPr sz="2000" spc="60" dirty="0">
                <a:solidFill>
                  <a:srgbClr val="0145AB"/>
                </a:solidFill>
                <a:latin typeface="Tahoma"/>
                <a:cs typeface="Tahoma"/>
              </a:rPr>
              <a:t>Mistral</a:t>
            </a:r>
            <a:r>
              <a:rPr sz="2000" spc="-15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145AB"/>
                </a:solidFill>
                <a:latin typeface="Tahoma"/>
                <a:cs typeface="Tahoma"/>
              </a:rPr>
              <a:t>(LLM</a:t>
            </a:r>
            <a:r>
              <a:rPr sz="2000" spc="-15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145AB"/>
                </a:solidFill>
                <a:latin typeface="Tahoma"/>
                <a:cs typeface="Tahoma"/>
              </a:rPr>
              <a:t>Model)</a:t>
            </a:r>
            <a:endParaRPr sz="2000">
              <a:latin typeface="Tahoma"/>
              <a:cs typeface="Tahoma"/>
            </a:endParaRPr>
          </a:p>
          <a:p>
            <a:pPr marL="394335" indent="-381635">
              <a:lnSpc>
                <a:spcPct val="100000"/>
              </a:lnSpc>
              <a:spcBef>
                <a:spcPts val="359"/>
              </a:spcBef>
              <a:buChar char="●"/>
              <a:tabLst>
                <a:tab pos="394335" algn="l"/>
              </a:tabLst>
            </a:pPr>
            <a:r>
              <a:rPr sz="2000" spc="-35" dirty="0">
                <a:solidFill>
                  <a:srgbClr val="0145AB"/>
                </a:solidFill>
                <a:latin typeface="Tahoma"/>
                <a:cs typeface="Tahoma"/>
              </a:rPr>
              <a:t>FAISS</a:t>
            </a:r>
            <a:r>
              <a:rPr sz="2000" spc="-204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145AB"/>
                </a:solidFill>
                <a:latin typeface="Tahoma"/>
                <a:cs typeface="Tahoma"/>
              </a:rPr>
              <a:t>(Vector</a:t>
            </a:r>
            <a:r>
              <a:rPr sz="2000" spc="-204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145AB"/>
                </a:solidFill>
                <a:latin typeface="Tahoma"/>
                <a:cs typeface="Tahoma"/>
              </a:rPr>
              <a:t>Database)</a:t>
            </a:r>
            <a:endParaRPr sz="2000">
              <a:latin typeface="Tahoma"/>
              <a:cs typeface="Tahoma"/>
            </a:endParaRPr>
          </a:p>
          <a:p>
            <a:pPr marL="394335" indent="-381635">
              <a:lnSpc>
                <a:spcPct val="100000"/>
              </a:lnSpc>
              <a:spcBef>
                <a:spcPts val="359"/>
              </a:spcBef>
              <a:buChar char="●"/>
              <a:tabLst>
                <a:tab pos="394335" algn="l"/>
              </a:tabLst>
            </a:pPr>
            <a:r>
              <a:rPr sz="2000" dirty="0">
                <a:solidFill>
                  <a:srgbClr val="0145AB"/>
                </a:solidFill>
                <a:latin typeface="Tahoma"/>
                <a:cs typeface="Tahoma"/>
              </a:rPr>
              <a:t>Steamlit</a:t>
            </a:r>
            <a:r>
              <a:rPr sz="2000" spc="-114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0145AB"/>
                </a:solidFill>
                <a:latin typeface="Tahoma"/>
                <a:cs typeface="Tahoma"/>
              </a:rPr>
              <a:t>(For</a:t>
            </a:r>
            <a:r>
              <a:rPr sz="2000" spc="-114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145AB"/>
                </a:solidFill>
                <a:latin typeface="Tahoma"/>
                <a:cs typeface="Tahoma"/>
              </a:rPr>
              <a:t>Chatbot</a:t>
            </a:r>
            <a:r>
              <a:rPr sz="2000" spc="-114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0145AB"/>
                </a:solidFill>
                <a:latin typeface="Tahoma"/>
                <a:cs typeface="Tahoma"/>
              </a:rPr>
              <a:t>UI)</a:t>
            </a:r>
            <a:endParaRPr sz="2000">
              <a:latin typeface="Tahoma"/>
              <a:cs typeface="Tahoma"/>
            </a:endParaRPr>
          </a:p>
          <a:p>
            <a:pPr marL="394335" indent="-381635">
              <a:lnSpc>
                <a:spcPct val="100000"/>
              </a:lnSpc>
              <a:spcBef>
                <a:spcPts val="359"/>
              </a:spcBef>
              <a:buChar char="●"/>
              <a:tabLst>
                <a:tab pos="394335" algn="l"/>
              </a:tabLst>
            </a:pPr>
            <a:r>
              <a:rPr sz="2000" dirty="0">
                <a:solidFill>
                  <a:srgbClr val="0145AB"/>
                </a:solidFill>
                <a:latin typeface="Tahoma"/>
                <a:cs typeface="Tahoma"/>
              </a:rPr>
              <a:t>Python</a:t>
            </a:r>
            <a:r>
              <a:rPr sz="2000" spc="-9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0145AB"/>
                </a:solidFill>
                <a:latin typeface="Tahoma"/>
                <a:cs typeface="Tahoma"/>
              </a:rPr>
              <a:t>(Programming</a:t>
            </a:r>
            <a:r>
              <a:rPr sz="2000" spc="-9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145AB"/>
                </a:solidFill>
                <a:latin typeface="Tahoma"/>
                <a:cs typeface="Tahoma"/>
              </a:rPr>
              <a:t>Language)</a:t>
            </a:r>
            <a:endParaRPr sz="2000">
              <a:latin typeface="Tahoma"/>
              <a:cs typeface="Tahoma"/>
            </a:endParaRPr>
          </a:p>
          <a:p>
            <a:pPr marL="394335" indent="-381635">
              <a:lnSpc>
                <a:spcPct val="100000"/>
              </a:lnSpc>
              <a:spcBef>
                <a:spcPts val="359"/>
              </a:spcBef>
              <a:buChar char="●"/>
              <a:tabLst>
                <a:tab pos="394335" algn="l"/>
              </a:tabLst>
            </a:pPr>
            <a:r>
              <a:rPr sz="2000" spc="55" dirty="0">
                <a:solidFill>
                  <a:srgbClr val="0145AB"/>
                </a:solidFill>
                <a:latin typeface="Tahoma"/>
                <a:cs typeface="Tahoma"/>
              </a:rPr>
              <a:t>VS</a:t>
            </a:r>
            <a:r>
              <a:rPr sz="2000" spc="-15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145AB"/>
                </a:solidFill>
                <a:latin typeface="Tahoma"/>
                <a:cs typeface="Tahoma"/>
              </a:rPr>
              <a:t>Code</a:t>
            </a:r>
            <a:r>
              <a:rPr sz="2000" spc="-15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0145AB"/>
                </a:solidFill>
                <a:latin typeface="Tahoma"/>
                <a:cs typeface="Tahoma"/>
              </a:rPr>
              <a:t>(IDE)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1001"/>
            <a:ext cx="1038225" cy="1016635"/>
            <a:chOff x="0" y="381001"/>
            <a:chExt cx="1038225" cy="1016635"/>
          </a:xfrm>
        </p:grpSpPr>
        <p:sp>
          <p:nvSpPr>
            <p:cNvPr id="3" name="object 3"/>
            <p:cNvSpPr/>
            <p:nvPr/>
          </p:nvSpPr>
          <p:spPr>
            <a:xfrm>
              <a:off x="0" y="381001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90" h="808990">
                  <a:moveTo>
                    <a:pt x="808799" y="808799"/>
                  </a:moveTo>
                  <a:lnTo>
                    <a:pt x="404399" y="808799"/>
                  </a:lnTo>
                  <a:lnTo>
                    <a:pt x="0" y="404399"/>
                  </a:lnTo>
                  <a:lnTo>
                    <a:pt x="0" y="0"/>
                  </a:lnTo>
                  <a:lnTo>
                    <a:pt x="808799" y="808799"/>
                  </a:lnTo>
                  <a:close/>
                </a:path>
              </a:pathLst>
            </a:custGeom>
            <a:solidFill>
              <a:srgbClr val="0145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9049" y="588488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90" h="808990">
                  <a:moveTo>
                    <a:pt x="808799" y="808799"/>
                  </a:moveTo>
                  <a:lnTo>
                    <a:pt x="0" y="0"/>
                  </a:lnTo>
                  <a:lnTo>
                    <a:pt x="404399" y="0"/>
                  </a:lnTo>
                  <a:lnTo>
                    <a:pt x="808799" y="404399"/>
                  </a:lnTo>
                  <a:lnTo>
                    <a:pt x="808799" y="808799"/>
                  </a:lnTo>
                  <a:close/>
                </a:path>
              </a:pathLst>
            </a:custGeom>
            <a:solidFill>
              <a:srgbClr val="82C7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5" dirty="0"/>
              <a:t>Technical</a:t>
            </a:r>
            <a:r>
              <a:rPr sz="2400" spc="10" dirty="0"/>
              <a:t> </a:t>
            </a:r>
            <a:r>
              <a:rPr sz="2400" spc="60" dirty="0"/>
              <a:t>Architecture</a:t>
            </a:r>
            <a:endParaRPr sz="24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6975" y="1307850"/>
            <a:ext cx="7477954" cy="353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4653-4B8F-0F87-E893-653BFAE1A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525" y="448995"/>
            <a:ext cx="6744334" cy="477054"/>
          </a:xfrm>
        </p:spPr>
        <p:txBody>
          <a:bodyPr/>
          <a:lstStyle/>
          <a:p>
            <a:r>
              <a:rPr lang="en-US" dirty="0"/>
              <a:t>UI through </a:t>
            </a:r>
            <a:r>
              <a:rPr lang="en-US" dirty="0" err="1"/>
              <a:t>Streamlit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1BDEA7-74D9-B069-400B-8B7EDE67F6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926"/>
          <a:stretch>
            <a:fillRect/>
          </a:stretch>
        </p:blipFill>
        <p:spPr>
          <a:xfrm>
            <a:off x="1600200" y="1352550"/>
            <a:ext cx="57150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427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E7E54-3D81-641B-7462-2A6CA45DE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525" y="448995"/>
            <a:ext cx="6744334" cy="477054"/>
          </a:xfrm>
        </p:spPr>
        <p:txBody>
          <a:bodyPr/>
          <a:lstStyle/>
          <a:p>
            <a:r>
              <a:rPr lang="en-US" dirty="0"/>
              <a:t>Prompting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27B00C-A701-5127-2456-101EF65CC99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3" t="1098" b="14571"/>
          <a:stretch>
            <a:fillRect/>
          </a:stretch>
        </p:blipFill>
        <p:spPr>
          <a:xfrm>
            <a:off x="367580" y="1595879"/>
            <a:ext cx="2819400" cy="21183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39E06C-E738-4D9F-9FAB-2416962307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961" y="1595878"/>
            <a:ext cx="2824508" cy="21183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3003F7-D292-653E-DACB-64780413A9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450" y="1595878"/>
            <a:ext cx="2819400" cy="211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608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EDADB-9D88-EDB9-F4C3-BBBA067BF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AD6D2-D554-BCA8-A884-3987B6E16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525" y="448995"/>
            <a:ext cx="6744334" cy="477054"/>
          </a:xfrm>
        </p:spPr>
        <p:txBody>
          <a:bodyPr/>
          <a:lstStyle/>
          <a:p>
            <a:r>
              <a:rPr lang="en-US" dirty="0"/>
              <a:t>Prompting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785AEB-8828-034F-721F-97927B34327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4" t="640" b="9696"/>
          <a:stretch>
            <a:fillRect/>
          </a:stretch>
        </p:blipFill>
        <p:spPr>
          <a:xfrm>
            <a:off x="367580" y="1595878"/>
            <a:ext cx="2819400" cy="21183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C54828-62AD-54FD-97FB-5F6C6C5464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90961" y="1595878"/>
            <a:ext cx="2824508" cy="21183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DCA574-E1F4-1862-B606-925C5C2EFE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9450" y="1595878"/>
            <a:ext cx="281940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772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73EFD-520F-8010-0C6C-4CA1C1AA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525" y="448995"/>
            <a:ext cx="6744334" cy="477054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0D593-E893-CCB5-EE3B-35F839DCC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1361" y="1581150"/>
            <a:ext cx="6615430" cy="221599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We give two prompts to the medical chatbot to test the credibility of the information.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Firstly, we asked about a disease, and the chatbot easily answered to that along with source documents.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Secondly, we asked a random question to check the credibility of the information, we expect it to not answer if the related document is not present in it database.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chatbot didn’t give any false information or hallucinations of the information it doesn’t have.</a:t>
            </a:r>
          </a:p>
        </p:txBody>
      </p:sp>
    </p:spTree>
    <p:extLst>
      <p:ext uri="{BB962C8B-B14F-4D97-AF65-F5344CB8AC3E}">
        <p14:creationId xmlns:p14="http://schemas.microsoft.com/office/powerpoint/2010/main" val="315159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55" dirty="0"/>
              <a:t>Improvement</a:t>
            </a:r>
            <a:r>
              <a:rPr sz="2900" spc="100" dirty="0"/>
              <a:t> </a:t>
            </a:r>
            <a:r>
              <a:rPr sz="2900" dirty="0"/>
              <a:t>Potential/Next</a:t>
            </a:r>
            <a:r>
              <a:rPr sz="2900" spc="105" dirty="0"/>
              <a:t> </a:t>
            </a:r>
            <a:r>
              <a:rPr sz="2900" spc="50" dirty="0"/>
              <a:t>Steps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1430396" y="1579107"/>
            <a:ext cx="6597650" cy="156781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409575" indent="-396875">
              <a:lnSpc>
                <a:spcPct val="100000"/>
              </a:lnSpc>
              <a:spcBef>
                <a:spcPts val="495"/>
              </a:spcBef>
              <a:buChar char="●"/>
              <a:tabLst>
                <a:tab pos="409575" algn="l"/>
              </a:tabLst>
            </a:pPr>
            <a:r>
              <a:rPr sz="2200" spc="60" dirty="0">
                <a:solidFill>
                  <a:srgbClr val="0145AB"/>
                </a:solidFill>
                <a:latin typeface="Tahoma"/>
                <a:cs typeface="Tahoma"/>
              </a:rPr>
              <a:t>Add</a:t>
            </a:r>
            <a:r>
              <a:rPr sz="2200" spc="-17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0145AB"/>
                </a:solidFill>
                <a:latin typeface="Tahoma"/>
                <a:cs typeface="Tahoma"/>
              </a:rPr>
              <a:t>authentication</a:t>
            </a:r>
            <a:r>
              <a:rPr sz="2200" spc="-16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0145AB"/>
                </a:solidFill>
                <a:latin typeface="Tahoma"/>
                <a:cs typeface="Tahoma"/>
              </a:rPr>
              <a:t>in</a:t>
            </a:r>
            <a:r>
              <a:rPr sz="2200" spc="-16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0145AB"/>
                </a:solidFill>
                <a:latin typeface="Tahoma"/>
                <a:cs typeface="Tahoma"/>
              </a:rPr>
              <a:t>the</a:t>
            </a:r>
            <a:r>
              <a:rPr sz="2200" spc="-16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spc="-25" dirty="0">
                <a:solidFill>
                  <a:srgbClr val="0145AB"/>
                </a:solidFill>
                <a:latin typeface="Tahoma"/>
                <a:cs typeface="Tahoma"/>
              </a:rPr>
              <a:t>UI</a:t>
            </a:r>
            <a:endParaRPr sz="2200">
              <a:latin typeface="Tahoma"/>
              <a:cs typeface="Tahoma"/>
            </a:endParaRPr>
          </a:p>
          <a:p>
            <a:pPr marL="409575" indent="-396875">
              <a:lnSpc>
                <a:spcPct val="100000"/>
              </a:lnSpc>
              <a:spcBef>
                <a:spcPts val="395"/>
              </a:spcBef>
              <a:buChar char="●"/>
              <a:tabLst>
                <a:tab pos="409575" algn="l"/>
              </a:tabLst>
            </a:pPr>
            <a:r>
              <a:rPr sz="2200" spc="55" dirty="0">
                <a:solidFill>
                  <a:srgbClr val="0145AB"/>
                </a:solidFill>
                <a:latin typeface="Tahoma"/>
                <a:cs typeface="Tahoma"/>
              </a:rPr>
              <a:t>Make</a:t>
            </a:r>
            <a:r>
              <a:rPr sz="2200" spc="-25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spc="-30" dirty="0">
                <a:solidFill>
                  <a:srgbClr val="0145AB"/>
                </a:solidFill>
                <a:latin typeface="Tahoma"/>
                <a:cs typeface="Tahoma"/>
              </a:rPr>
              <a:t>use</a:t>
            </a:r>
            <a:r>
              <a:rPr sz="2200" spc="-24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0145AB"/>
                </a:solidFill>
                <a:latin typeface="Tahoma"/>
                <a:cs typeface="Tahoma"/>
              </a:rPr>
              <a:t>of</a:t>
            </a:r>
            <a:r>
              <a:rPr sz="2200" spc="-24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0145AB"/>
                </a:solidFill>
                <a:latin typeface="Tahoma"/>
                <a:cs typeface="Tahoma"/>
              </a:rPr>
              <a:t>self-upload</a:t>
            </a:r>
            <a:r>
              <a:rPr sz="2200" spc="-24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0145AB"/>
                </a:solidFill>
                <a:latin typeface="Tahoma"/>
                <a:cs typeface="Tahoma"/>
              </a:rPr>
              <a:t>document</a:t>
            </a:r>
            <a:r>
              <a:rPr sz="2200" spc="-25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0145AB"/>
                </a:solidFill>
                <a:latin typeface="Tahoma"/>
                <a:cs typeface="Tahoma"/>
              </a:rPr>
              <a:t>functionality</a:t>
            </a:r>
            <a:endParaRPr sz="2200">
              <a:latin typeface="Tahoma"/>
              <a:cs typeface="Tahoma"/>
            </a:endParaRPr>
          </a:p>
          <a:p>
            <a:pPr marL="409575" indent="-396875">
              <a:lnSpc>
                <a:spcPct val="100000"/>
              </a:lnSpc>
              <a:spcBef>
                <a:spcPts val="395"/>
              </a:spcBef>
              <a:buChar char="●"/>
              <a:tabLst>
                <a:tab pos="409575" algn="l"/>
              </a:tabLst>
            </a:pPr>
            <a:r>
              <a:rPr sz="2200" spc="60" dirty="0">
                <a:solidFill>
                  <a:srgbClr val="0145AB"/>
                </a:solidFill>
                <a:latin typeface="Tahoma"/>
                <a:cs typeface="Tahoma"/>
              </a:rPr>
              <a:t>Add</a:t>
            </a:r>
            <a:r>
              <a:rPr sz="2200" spc="-229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0145AB"/>
                </a:solidFill>
                <a:latin typeface="Tahoma"/>
                <a:cs typeface="Tahoma"/>
              </a:rPr>
              <a:t>multiple</a:t>
            </a:r>
            <a:r>
              <a:rPr sz="2200" spc="-229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0145AB"/>
                </a:solidFill>
                <a:latin typeface="Tahoma"/>
                <a:cs typeface="Tahoma"/>
              </a:rPr>
              <a:t>documents</a:t>
            </a:r>
            <a:r>
              <a:rPr sz="2200" spc="-229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spc="-20" dirty="0">
                <a:solidFill>
                  <a:srgbClr val="0145AB"/>
                </a:solidFill>
                <a:latin typeface="Tahoma"/>
                <a:cs typeface="Tahoma"/>
              </a:rPr>
              <a:t>and</a:t>
            </a:r>
            <a:r>
              <a:rPr sz="2200" spc="-22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spc="-20" dirty="0">
                <a:solidFill>
                  <a:srgbClr val="0145AB"/>
                </a:solidFill>
                <a:latin typeface="Tahoma"/>
                <a:cs typeface="Tahoma"/>
              </a:rPr>
              <a:t>embed</a:t>
            </a:r>
            <a:r>
              <a:rPr sz="2200" spc="-229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0145AB"/>
                </a:solidFill>
                <a:latin typeface="Tahoma"/>
                <a:cs typeface="Tahoma"/>
              </a:rPr>
              <a:t>them</a:t>
            </a:r>
            <a:r>
              <a:rPr sz="2200" spc="-229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0145AB"/>
                </a:solidFill>
                <a:latin typeface="Tahoma"/>
                <a:cs typeface="Tahoma"/>
              </a:rPr>
              <a:t>together</a:t>
            </a:r>
            <a:endParaRPr sz="2200">
              <a:latin typeface="Tahoma"/>
              <a:cs typeface="Tahoma"/>
            </a:endParaRPr>
          </a:p>
          <a:p>
            <a:pPr marL="409575" indent="-396875">
              <a:lnSpc>
                <a:spcPct val="100000"/>
              </a:lnSpc>
              <a:spcBef>
                <a:spcPts val="400"/>
              </a:spcBef>
              <a:buChar char="●"/>
              <a:tabLst>
                <a:tab pos="409575" algn="l"/>
              </a:tabLst>
            </a:pPr>
            <a:r>
              <a:rPr sz="2200" spc="60" dirty="0">
                <a:solidFill>
                  <a:srgbClr val="0145AB"/>
                </a:solidFill>
                <a:latin typeface="Tahoma"/>
                <a:cs typeface="Tahoma"/>
              </a:rPr>
              <a:t>Add</a:t>
            </a:r>
            <a:r>
              <a:rPr sz="2200" spc="-23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spc="75" dirty="0">
                <a:solidFill>
                  <a:srgbClr val="0145AB"/>
                </a:solidFill>
                <a:latin typeface="Tahoma"/>
                <a:cs typeface="Tahoma"/>
              </a:rPr>
              <a:t>Unit</a:t>
            </a:r>
            <a:r>
              <a:rPr sz="2200" spc="-23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0145AB"/>
                </a:solidFill>
                <a:latin typeface="Tahoma"/>
                <a:cs typeface="Tahoma"/>
              </a:rPr>
              <a:t>testing</a:t>
            </a:r>
            <a:r>
              <a:rPr sz="2200" spc="-23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0145AB"/>
                </a:solidFill>
                <a:latin typeface="Tahoma"/>
                <a:cs typeface="Tahoma"/>
              </a:rPr>
              <a:t>of</a:t>
            </a:r>
            <a:r>
              <a:rPr sz="2200" spc="-23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spc="100" dirty="0">
                <a:solidFill>
                  <a:srgbClr val="0145AB"/>
                </a:solidFill>
                <a:latin typeface="Tahoma"/>
                <a:cs typeface="Tahoma"/>
              </a:rPr>
              <a:t>RAG</a:t>
            </a:r>
            <a:r>
              <a:rPr sz="2200" spc="-23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0145AB"/>
                </a:solidFill>
                <a:latin typeface="Tahoma"/>
                <a:cs typeface="Tahoma"/>
              </a:rPr>
              <a:t>applications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Summary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476421" y="1202746"/>
            <a:ext cx="6615430" cy="2437206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r>
              <a:rPr spc="50" dirty="0"/>
              <a:t>Modern</a:t>
            </a:r>
            <a:r>
              <a:rPr spc="-110" dirty="0"/>
              <a:t> </a:t>
            </a:r>
            <a:r>
              <a:rPr dirty="0"/>
              <a:t>AI</a:t>
            </a:r>
            <a:r>
              <a:rPr spc="-105" dirty="0"/>
              <a:t> </a:t>
            </a:r>
            <a:r>
              <a:rPr dirty="0"/>
              <a:t>Chatbot</a:t>
            </a:r>
            <a:r>
              <a:rPr spc="-110" dirty="0"/>
              <a:t> </a:t>
            </a:r>
            <a:r>
              <a:rPr dirty="0"/>
              <a:t>for</a:t>
            </a:r>
            <a:r>
              <a:rPr spc="-105" dirty="0"/>
              <a:t> </a:t>
            </a:r>
            <a:r>
              <a:rPr spc="-10" dirty="0"/>
              <a:t>Documents</a:t>
            </a:r>
          </a:p>
          <a:p>
            <a:pPr marL="36385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363855" algn="l"/>
              </a:tabLst>
            </a:pPr>
            <a:r>
              <a:rPr dirty="0"/>
              <a:t>Modular</a:t>
            </a:r>
            <a:r>
              <a:rPr spc="-55" dirty="0"/>
              <a:t> </a:t>
            </a:r>
            <a:r>
              <a:rPr spc="50" dirty="0"/>
              <a:t>3</a:t>
            </a:r>
            <a:r>
              <a:rPr spc="-50" dirty="0"/>
              <a:t> </a:t>
            </a:r>
            <a:r>
              <a:rPr spc="-10" dirty="0"/>
              <a:t>phased</a:t>
            </a:r>
            <a:r>
              <a:rPr spc="-55" dirty="0"/>
              <a:t> </a:t>
            </a:r>
            <a:r>
              <a:rPr dirty="0"/>
              <a:t>Chatbot</a:t>
            </a:r>
            <a:r>
              <a:rPr spc="-50" dirty="0"/>
              <a:t> </a:t>
            </a:r>
            <a:r>
              <a:rPr spc="-10" dirty="0"/>
              <a:t>project</a:t>
            </a:r>
          </a:p>
          <a:p>
            <a:pPr marL="363855" indent="-351155">
              <a:lnSpc>
                <a:spcPct val="100000"/>
              </a:lnSpc>
              <a:spcBef>
                <a:spcPts val="285"/>
              </a:spcBef>
              <a:buChar char="●"/>
              <a:tabLst>
                <a:tab pos="363855" algn="l"/>
              </a:tabLst>
            </a:pPr>
            <a:r>
              <a:rPr lang="en-US" spc="-40" dirty="0"/>
              <a:t>Used Technologies</a:t>
            </a:r>
            <a:endParaRPr spc="-10" dirty="0"/>
          </a:p>
          <a:p>
            <a:pPr marL="821055" lvl="1" indent="-335915">
              <a:lnSpc>
                <a:spcPct val="100000"/>
              </a:lnSpc>
              <a:spcBef>
                <a:spcPts val="300"/>
              </a:spcBef>
              <a:buChar char="○"/>
              <a:tabLst>
                <a:tab pos="821055" algn="l"/>
              </a:tabLst>
            </a:pPr>
            <a:r>
              <a:rPr sz="1400" dirty="0">
                <a:solidFill>
                  <a:srgbClr val="0145AB"/>
                </a:solidFill>
                <a:latin typeface="Tahoma"/>
                <a:cs typeface="Tahoma"/>
              </a:rPr>
              <a:t>Streamlit</a:t>
            </a:r>
            <a:r>
              <a:rPr sz="1400" spc="-13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400" spc="-125" dirty="0">
                <a:solidFill>
                  <a:srgbClr val="0145AB"/>
                </a:solidFill>
                <a:latin typeface="Tahoma"/>
                <a:cs typeface="Tahoma"/>
              </a:rPr>
              <a:t>|</a:t>
            </a:r>
            <a:r>
              <a:rPr sz="1400" spc="-13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145AB"/>
                </a:solidFill>
                <a:latin typeface="Tahoma"/>
                <a:cs typeface="Tahoma"/>
              </a:rPr>
              <a:t>Langchain</a:t>
            </a:r>
            <a:r>
              <a:rPr sz="1400" spc="-13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400" spc="-125" dirty="0">
                <a:solidFill>
                  <a:srgbClr val="0145AB"/>
                </a:solidFill>
                <a:latin typeface="Tahoma"/>
                <a:cs typeface="Tahoma"/>
              </a:rPr>
              <a:t>|</a:t>
            </a:r>
            <a:r>
              <a:rPr sz="1400" spc="-13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145AB"/>
                </a:solidFill>
                <a:latin typeface="Tahoma"/>
                <a:cs typeface="Tahoma"/>
              </a:rPr>
              <a:t>HuggingFace</a:t>
            </a:r>
            <a:endParaRPr sz="1400" dirty="0">
              <a:latin typeface="Tahoma"/>
              <a:cs typeface="Tahoma"/>
            </a:endParaRPr>
          </a:p>
          <a:p>
            <a:pPr marL="821055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21055" algn="l"/>
              </a:tabLst>
            </a:pPr>
            <a:r>
              <a:rPr sz="1400" spc="35" dirty="0">
                <a:solidFill>
                  <a:srgbClr val="0145AB"/>
                </a:solidFill>
                <a:latin typeface="Tahoma"/>
                <a:cs typeface="Tahoma"/>
              </a:rPr>
              <a:t>RAG</a:t>
            </a:r>
            <a:endParaRPr sz="1400" dirty="0">
              <a:latin typeface="Tahoma"/>
              <a:cs typeface="Tahoma"/>
            </a:endParaRPr>
          </a:p>
          <a:p>
            <a:pPr marL="821055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21055" algn="l"/>
              </a:tabLst>
            </a:pPr>
            <a:r>
              <a:rPr sz="1400" dirty="0">
                <a:solidFill>
                  <a:srgbClr val="0145AB"/>
                </a:solidFill>
                <a:latin typeface="Tahoma"/>
                <a:cs typeface="Tahoma"/>
              </a:rPr>
              <a:t>Vector</a:t>
            </a:r>
            <a:r>
              <a:rPr sz="1400" spc="-2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145AB"/>
                </a:solidFill>
                <a:latin typeface="Tahoma"/>
                <a:cs typeface="Tahoma"/>
              </a:rPr>
              <a:t>Embeddings</a:t>
            </a:r>
            <a:endParaRPr sz="1400" dirty="0">
              <a:latin typeface="Tahoma"/>
              <a:cs typeface="Tahoma"/>
            </a:endParaRPr>
          </a:p>
          <a:p>
            <a:pPr marL="821055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21055" algn="l"/>
              </a:tabLst>
            </a:pPr>
            <a:r>
              <a:rPr sz="1400" dirty="0">
                <a:solidFill>
                  <a:srgbClr val="0145AB"/>
                </a:solidFill>
                <a:latin typeface="Tahoma"/>
                <a:cs typeface="Tahoma"/>
              </a:rPr>
              <a:t>End</a:t>
            </a:r>
            <a:r>
              <a:rPr sz="1400" spc="-14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0145AB"/>
                </a:solidFill>
                <a:latin typeface="Tahoma"/>
                <a:cs typeface="Tahoma"/>
              </a:rPr>
              <a:t>to</a:t>
            </a:r>
            <a:r>
              <a:rPr sz="1400" spc="-13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0145AB"/>
                </a:solidFill>
                <a:latin typeface="Tahoma"/>
                <a:cs typeface="Tahoma"/>
              </a:rPr>
              <a:t>End</a:t>
            </a:r>
            <a:r>
              <a:rPr sz="1400" spc="-140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0145AB"/>
                </a:solidFill>
                <a:latin typeface="Tahoma"/>
                <a:cs typeface="Tahoma"/>
              </a:rPr>
              <a:t>RAG</a:t>
            </a:r>
            <a:r>
              <a:rPr sz="1400" spc="-135" dirty="0">
                <a:solidFill>
                  <a:srgbClr val="0145AB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145AB"/>
                </a:solidFill>
                <a:latin typeface="Tahoma"/>
                <a:cs typeface="Tahoma"/>
              </a:rPr>
              <a:t>pipeline</a:t>
            </a:r>
            <a:endParaRPr sz="1400" dirty="0">
              <a:latin typeface="Tahoma"/>
              <a:cs typeface="Tahoma"/>
            </a:endParaRPr>
          </a:p>
          <a:p>
            <a:pPr marL="363855" indent="-351155">
              <a:lnSpc>
                <a:spcPct val="100000"/>
              </a:lnSpc>
              <a:spcBef>
                <a:spcPts val="244"/>
              </a:spcBef>
              <a:buChar char="●"/>
              <a:tabLst>
                <a:tab pos="363855" algn="l"/>
              </a:tabLst>
            </a:pPr>
            <a:r>
              <a:rPr dirty="0"/>
              <a:t>Future</a:t>
            </a:r>
            <a:r>
              <a:rPr spc="-70" dirty="0"/>
              <a:t> </a:t>
            </a:r>
            <a:r>
              <a:rPr spc="-10" dirty="0"/>
              <a:t>Possibilities</a:t>
            </a:r>
          </a:p>
          <a:p>
            <a:pPr marL="363855" indent="-351155">
              <a:lnSpc>
                <a:spcPct val="100000"/>
              </a:lnSpc>
              <a:spcBef>
                <a:spcPts val="285"/>
              </a:spcBef>
              <a:buChar char="●"/>
              <a:tabLst>
                <a:tab pos="363855" algn="l"/>
              </a:tabLst>
            </a:pPr>
            <a:r>
              <a:rPr dirty="0"/>
              <a:t>Any</a:t>
            </a:r>
            <a:r>
              <a:rPr spc="-135" dirty="0"/>
              <a:t> </a:t>
            </a:r>
            <a:r>
              <a:rPr dirty="0"/>
              <a:t>sort</a:t>
            </a:r>
            <a:r>
              <a:rPr spc="-130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dirty="0"/>
              <a:t>Feedback</a:t>
            </a:r>
            <a:r>
              <a:rPr spc="-130" dirty="0"/>
              <a:t> </a:t>
            </a:r>
            <a:r>
              <a:rPr dirty="0"/>
              <a:t>will</a:t>
            </a:r>
            <a:r>
              <a:rPr spc="-135" dirty="0"/>
              <a:t> </a:t>
            </a:r>
            <a:r>
              <a:rPr dirty="0"/>
              <a:t>be</a:t>
            </a:r>
            <a:r>
              <a:rPr spc="-130" dirty="0"/>
              <a:t> </a:t>
            </a:r>
            <a:r>
              <a:rPr dirty="0"/>
              <a:t>highly</a:t>
            </a:r>
            <a:r>
              <a:rPr spc="-130" dirty="0"/>
              <a:t> </a:t>
            </a:r>
            <a:r>
              <a:rPr spc="-10" dirty="0"/>
              <a:t>appreciated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281</Words>
  <Application>Microsoft Office PowerPoint</Application>
  <PresentationFormat>On-screen Show (16:9)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Tahoma</vt:lpstr>
      <vt:lpstr>Wingdings</vt:lpstr>
      <vt:lpstr>Office Theme</vt:lpstr>
      <vt:lpstr>AI Medical Chatbot using RAG (MediBot)</vt:lpstr>
      <vt:lpstr>PROJECT LAYOUT</vt:lpstr>
      <vt:lpstr>Tools &amp; Technologies</vt:lpstr>
      <vt:lpstr>Technical Architecture</vt:lpstr>
      <vt:lpstr>UI through Streamlit</vt:lpstr>
      <vt:lpstr>Prompting</vt:lpstr>
      <vt:lpstr>Prompting</vt:lpstr>
      <vt:lpstr>Results</vt:lpstr>
      <vt:lpstr>Improvement Potential/Next Steps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Shahbaz Noor</cp:lastModifiedBy>
  <cp:revision>1</cp:revision>
  <dcterms:created xsi:type="dcterms:W3CDTF">2025-06-12T01:13:30Z</dcterms:created>
  <dcterms:modified xsi:type="dcterms:W3CDTF">2025-06-12T01:48:28Z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2025-01-12T00:00:00Z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2025-01-12T00:00:00Z</vt:filetime>
  </property>
</Properties>
</file>